
<file path=[Content_Types].xml><?xml version="1.0" encoding="utf-8"?>
<Types xmlns="http://schemas.openxmlformats.org/package/2006/content-types">
  <Default Extension="png" ContentType="image/png"/>
  <Default Extension="webp" ContentType="image/webp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9" d="100"/>
          <a:sy n="79" d="100"/>
        </p:scale>
        <p:origin x="-1260" y="-13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7F8C8D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Négatif 49%</c:v>
                </c:pt>
                <c:pt idx="1">
                  <c:v>Positif 38%</c:v>
                </c:pt>
                <c:pt idx="2">
                  <c:v>Neutre 12%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38</c:v>
                </c:pt>
                <c:pt idx="2">
                  <c:v>12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78bf4676-cf69-47cb-b34d-b01b65f1bfbe}"/>
      </c:ext>
    </c:extLst>
  </c:chart>
  <c:spPr>
    <a:solidFill>
      <a:srgbClr val="F4F8FB"/>
    </a:solidFill>
    <a:ln>
      <a:noFill/>
    </a:ln>
    <a:effectLst/>
  </c:spPr>
  <c:txPr>
    <a:bodyPr/>
    <a:lstStyle/>
    <a:p>
      <a:pPr>
        <a:defRPr lang="en-US"/>
      </a:pPr>
      <a:endParaRPr lang="fr-F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67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web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48410" y="-1312645"/>
            <a:ext cx="4114800" cy="4114800"/>
          </a:xfrm>
          <a:prstGeom prst="ellipse">
            <a:avLst/>
          </a:prstGeom>
          <a:solidFill>
            <a:srgbClr val="007B7B">
              <a:alpha val="25000"/>
            </a:srgbClr>
          </a:solidFill>
          <a:ln w="12700">
            <a:solidFill>
              <a:srgbClr val="007B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00C8C8">
              <a:alpha val="20000"/>
            </a:srgbClr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007B7B">
              <a:alpha val="18000"/>
            </a:srgbClr>
          </a:solidFill>
          <a:ln w="12700">
            <a:solidFill>
              <a:srgbClr val="007B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115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MÉMOIRE DE PROJET DE FIN D'ÉTUDES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Veille Data &amp; Insights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sur l'Endométriose pour Ziwig Morocco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3840480" cy="36576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0896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Stagiaire : Mouad Souhal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401568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Directeur de stage : Oussama Ettizoui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694176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Encadrants : Mr. Fall Hachim  ·  Mr. Abderrahmane El Mettiti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986784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Filière : Ingénierie Informatique – Data Science (3GI-DTS)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79392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Année universitaire : 2025 – 2026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0C8C8">
              <a:alpha val="85000"/>
            </a:srgbClr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de Fin d'Études  ·  Mai – Juillet 2026  ·  Ziwig Morocco</a:t>
            </a:r>
            <a:endParaRPr lang="en-US" sz="1100" dirty="0"/>
          </a:p>
        </p:txBody>
      </p:sp>
      <p:pic>
        <p:nvPicPr>
          <p:cNvPr id="19" name="Picture 18"/>
          <p:cNvPicPr/>
          <p:nvPr/>
        </p:nvPicPr>
        <p:blipFill>
          <a:blip r:embed="rId3"/>
          <a:stretch>
            <a:fillRect/>
          </a:stretch>
        </p:blipFill>
        <p:spPr>
          <a:xfrm>
            <a:off x="7025640" y="231140"/>
            <a:ext cx="1929765" cy="669925"/>
          </a:xfrm>
          <a:prstGeom prst="rect">
            <a:avLst/>
          </a:prstGeom>
        </p:spPr>
      </p:pic>
      <p:pic>
        <p:nvPicPr>
          <p:cNvPr id="1026" name="Picture 2" descr="C:\Users\user\Downloads\supmti-logo-reconnu-01 (1)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231140"/>
            <a:ext cx="2300438" cy="988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3192" y="1463040"/>
            <a:ext cx="310896" cy="420624"/>
          </a:xfrm>
          <a:prstGeom prst="roundRect">
            <a:avLst>
              <a:gd name="adj" fmla="val 1470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90472"/>
            <a:ext cx="3108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140817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Contexte du Projet &amp; Entreprise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166420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Ziwig Morocco · Endométriose · Problématique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084832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" y="2194560"/>
            <a:ext cx="310896" cy="420624"/>
          </a:xfrm>
          <a:prstGeom prst="roundRect">
            <a:avLst>
              <a:gd name="adj" fmla="val 1470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221992"/>
            <a:ext cx="3108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" y="213969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du Pipeline (E1–E7)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5528" y="239572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étapes · 46 sources · 301 707 messages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816352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3192" y="2926080"/>
            <a:ext cx="310896" cy="420624"/>
          </a:xfrm>
          <a:prstGeom prst="roundRect">
            <a:avLst>
              <a:gd name="adj" fmla="val 1470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953512"/>
            <a:ext cx="3108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5528" y="28712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Collecte &amp; Standardisation (E1–E2)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5528" y="312724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scraping · BeautifulSoup4 · 588 424 lignes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547872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" y="3657600"/>
            <a:ext cx="310896" cy="420624"/>
          </a:xfrm>
          <a:prstGeom prst="roundRect">
            <a:avLst>
              <a:gd name="adj" fmla="val 1470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685032"/>
            <a:ext cx="3108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5528" y="36027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Analyse NLP &amp; Sentiment (E3)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5528" y="385876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CamemBERT · RoBERTa · XLM-RoBERTa · 23 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279392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93192" y="4389120"/>
            <a:ext cx="310896" cy="420624"/>
          </a:xfrm>
          <a:prstGeom prst="roundRect">
            <a:avLst>
              <a:gd name="adj" fmla="val 1470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4416552"/>
            <a:ext cx="3108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5528" y="433425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Métriques &amp; KPIs (E4)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5528" y="459028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Scoring pays · Engagement · SAV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1353312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28032" y="1463040"/>
            <a:ext cx="310896" cy="420624"/>
          </a:xfrm>
          <a:prstGeom prst="roundRect">
            <a:avLst>
              <a:gd name="adj" fmla="val 1470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490472"/>
            <a:ext cx="3108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30368" y="140817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Topic Modeling &amp; Insights (E5)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30368" y="166420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BERTopic · 733 topics · NER spaCy · SAV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084832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28032" y="2194560"/>
            <a:ext cx="310896" cy="420624"/>
          </a:xfrm>
          <a:prstGeom prst="roundRect">
            <a:avLst>
              <a:gd name="adj" fmla="val 1470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221992"/>
            <a:ext cx="3108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30368" y="213969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Warehouse SQL Server (E6)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230368" y="239572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 Schema · ETL Python · 289 300 posts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2816352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28032" y="2926080"/>
            <a:ext cx="310896" cy="420624"/>
          </a:xfrm>
          <a:prstGeom prst="roundRect">
            <a:avLst>
              <a:gd name="adj" fmla="val 1470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2953512"/>
            <a:ext cx="3108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30368" y="28712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Dashboards Power BI (E7)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230368" y="312724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fichiers .pbix · Axe 1 + Axe 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3547872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28032" y="3657600"/>
            <a:ext cx="310896" cy="420624"/>
          </a:xfrm>
          <a:prstGeom prst="roundRect">
            <a:avLst>
              <a:gd name="adj" fmla="val 1470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3685032"/>
            <a:ext cx="3108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30368" y="36027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Résultats Clés &amp; Perspectives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230368" y="385876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Insights actionnables · Recommandations</a:t>
            </a:r>
            <a:endParaRPr lang="en-US" sz="950" dirty="0"/>
          </a:p>
        </p:txBody>
      </p:sp>
      <p:pic>
        <p:nvPicPr>
          <p:cNvPr id="51" name="Picture 50"/>
          <p:cNvPicPr/>
          <p:nvPr/>
        </p:nvPicPr>
        <p:blipFill>
          <a:blip r:embed="rId3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3" grpId="0"/>
      <p:bldP spid="14" grpId="0"/>
      <p:bldP spid="15" grpId="0"/>
      <p:bldP spid="18" grpId="0"/>
      <p:bldP spid="19" grpId="0"/>
      <p:bldP spid="20" grpId="0"/>
      <p:bldP spid="23" grpId="0"/>
      <p:bldP spid="24" grpId="0"/>
      <p:bldP spid="25" grpId="0"/>
      <p:bldP spid="28" grpId="0"/>
      <p:bldP spid="29" grpId="0"/>
      <p:bldP spid="30" grpId="0"/>
      <p:bldP spid="33" grpId="0"/>
      <p:bldP spid="34" grpId="0"/>
      <p:bldP spid="35" grpId="0"/>
      <p:bldP spid="38" grpId="0"/>
      <p:bldP spid="39" grpId="0"/>
      <p:bldP spid="40" grpId="0"/>
      <p:bldP spid="43" grpId="0"/>
      <p:bldP spid="44" grpId="0"/>
      <p:bldP spid="45" grpId="0"/>
      <p:bldP spid="48" grpId="0"/>
      <p:bldP spid="49" grpId="0"/>
      <p:bldP spid="5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Contexte du Projet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7160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ZIWIG MOROCCO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Santé Numérique · Endométriose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 phare 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salivaire + IA pour diagnostic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Pays ciblés 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France · États-Unis · Royaume-Uni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33756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Durée du stage 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56616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mois — Mai à Juillet 2026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93192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Mission 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16052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data complet : collecte → NLP → BI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160520" cy="3566160"/>
          </a:xfrm>
          <a:prstGeom prst="roundRect">
            <a:avLst>
              <a:gd name="adj" fmla="val 2564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37160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L'ENDOMÉTRIOSE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828800"/>
            <a:ext cx="39776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865376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femme / 10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46320" y="224028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touchée en âge de procréer (OMS)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788920"/>
            <a:ext cx="39776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2825496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~7 ans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46320" y="320040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délai moyen avant diagnostic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49040"/>
            <a:ext cx="39776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785616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190 M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46320" y="416052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femmes concernées dans le monde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4709160"/>
            <a:ext cx="3977640" cy="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1" name="Picture 50"/>
          <p:cNvPicPr/>
          <p:nvPr/>
        </p:nvPicPr>
        <p:blipFill>
          <a:blip r:embed="rId3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20" grpId="0"/>
      <p:bldP spid="21" grpId="0"/>
      <p:bldP spid="23" grpId="0"/>
      <p:bldP spid="24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Problématique &amp; Objectifs du Projet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914400"/>
          </a:xfrm>
          <a:prstGeom prst="roundRect">
            <a:avLst>
              <a:gd name="adj" fmla="val 8000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0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Comment extraire, à grande échelle, des insights actionnables à partir des conversations en ligne des patientes atteintes d'endométriose, afin d'alimenter la stratégie produit et commerciale de Ziwig 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4206240" cy="2560320"/>
          </a:xfrm>
          <a:prstGeom prst="roundRect">
            <a:avLst>
              <a:gd name="adj" fmla="val 357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4231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Axe 1 — Patient Insights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Analyse de sentiment des conversations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364992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Identification des thèmes &amp; symptômes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822192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Pain points et errance diagnostique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279392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Perception de la marque Ziwig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2331720"/>
            <a:ext cx="4206240" cy="2560320"/>
          </a:xfrm>
          <a:prstGeom prst="roundRect">
            <a:avLst>
              <a:gd name="adj" fmla="val 3571"/>
            </a:avLst>
          </a:prstGeom>
          <a:solidFill>
            <a:srgbClr val="007B7B"/>
          </a:solidFill>
          <a:ln w="12700">
            <a:solidFill>
              <a:srgbClr val="007B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24231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Axe 2 — Insights Marché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907792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Activité par pays (FR · US · UK)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Scoring d'opportunité 0–100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822192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Irritants SAV &amp; expérience patient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4279392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Positionnement &amp; recommandations</a:t>
            </a:r>
            <a:endParaRPr lang="en-US" sz="1150" dirty="0"/>
          </a:p>
        </p:txBody>
      </p:sp>
      <p:pic>
        <p:nvPicPr>
          <p:cNvPr id="51" name="Picture 50"/>
          <p:cNvPicPr/>
          <p:nvPr/>
        </p:nvPicPr>
        <p:blipFill>
          <a:blip r:embed="rId3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007B7B">
              <a:alpha val="20000"/>
            </a:srgbClr>
          </a:solidFill>
          <a:ln w="12700">
            <a:solidFill>
              <a:srgbClr val="00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8368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Architecture Globale du Pipeline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étapes séquentielles · De la collecte brute au tableau de bord décisionnel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" y="1508760"/>
            <a:ext cx="1115568" cy="2560320"/>
          </a:xfrm>
          <a:prstGeom prst="roundRect">
            <a:avLst>
              <a:gd name="adj" fmla="val 6557"/>
            </a:avLst>
          </a:prstGeom>
          <a:solidFill>
            <a:srgbClr val="007B7B"/>
          </a:solidFill>
          <a:ln w="12700">
            <a:solidFill>
              <a:srgbClr val="007B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" y="1645920"/>
            <a:ext cx="548640" cy="548640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673352"/>
            <a:ext cx="548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2304288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Scraping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" y="2788920"/>
            <a:ext cx="1005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 sources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588 K lignes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16736" y="2724912"/>
            <a:ext cx="82296" cy="54864"/>
          </a:xfrm>
          <a:prstGeom prst="rect">
            <a:avLst/>
          </a:prstGeom>
          <a:solidFill>
            <a:srgbClr val="00C8C8">
              <a:alpha val="70000"/>
            </a:srgbClr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9888" y="1508760"/>
            <a:ext cx="1115568" cy="2560320"/>
          </a:xfrm>
          <a:prstGeom prst="roundRect">
            <a:avLst>
              <a:gd name="adj" fmla="val 6557"/>
            </a:avLst>
          </a:prstGeom>
          <a:solidFill>
            <a:srgbClr val="145C5C"/>
          </a:solidFill>
          <a:ln w="12700">
            <a:solidFill>
              <a:srgbClr val="14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73352" y="1645920"/>
            <a:ext cx="548640" cy="548640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73352" y="1673352"/>
            <a:ext cx="548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44752" y="2304288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Standardisation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44752" y="2788920"/>
            <a:ext cx="1005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 CSV normalisés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05456" y="2724912"/>
            <a:ext cx="82296" cy="54864"/>
          </a:xfrm>
          <a:prstGeom prst="rect">
            <a:avLst/>
          </a:prstGeom>
          <a:solidFill>
            <a:srgbClr val="00C8C8">
              <a:alpha val="70000"/>
            </a:srgbClr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78608" y="1508760"/>
            <a:ext cx="1115568" cy="2560320"/>
          </a:xfrm>
          <a:prstGeom prst="roundRect">
            <a:avLst>
              <a:gd name="adj" fmla="val 6557"/>
            </a:avLst>
          </a:prstGeom>
          <a:solidFill>
            <a:srgbClr val="1A5C8C"/>
          </a:solidFill>
          <a:ln w="12700">
            <a:solidFill>
              <a:srgbClr val="1A5C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62072" y="1645920"/>
            <a:ext cx="548640" cy="548640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62072" y="1673352"/>
            <a:ext cx="548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33472" y="2304288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Sentiment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33472" y="2788920"/>
            <a:ext cx="1005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301 707 messages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modèles Transformer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94176" y="2724912"/>
            <a:ext cx="82296" cy="54864"/>
          </a:xfrm>
          <a:prstGeom prst="rect">
            <a:avLst/>
          </a:prstGeom>
          <a:solidFill>
            <a:srgbClr val="00C8C8">
              <a:alpha val="70000"/>
            </a:srgbClr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67328" y="1508760"/>
            <a:ext cx="1115568" cy="2560320"/>
          </a:xfrm>
          <a:prstGeom prst="roundRect">
            <a:avLst>
              <a:gd name="adj" fmla="val 6557"/>
            </a:avLst>
          </a:prstGeom>
          <a:solidFill>
            <a:srgbClr val="1E3E8C"/>
          </a:solidFill>
          <a:ln w="12700">
            <a:solidFill>
              <a:srgbClr val="1E3E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050792" y="1645920"/>
            <a:ext cx="548640" cy="548640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50792" y="1673352"/>
            <a:ext cx="548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22192" y="2304288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Métriques &amp; KPIs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22192" y="2788920"/>
            <a:ext cx="1005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CSV · Scoring pays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82896" y="2724912"/>
            <a:ext cx="82296" cy="54864"/>
          </a:xfrm>
          <a:prstGeom prst="rect">
            <a:avLst/>
          </a:prstGeom>
          <a:solidFill>
            <a:srgbClr val="00C8C8">
              <a:alpha val="70000"/>
            </a:srgbClr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1508760"/>
            <a:ext cx="1115568" cy="2560320"/>
          </a:xfrm>
          <a:prstGeom prst="roundRect">
            <a:avLst>
              <a:gd name="adj" fmla="val 6557"/>
            </a:avLst>
          </a:prstGeom>
          <a:solidFill>
            <a:srgbClr val="2B2E8C"/>
          </a:solidFill>
          <a:ln w="12700">
            <a:solidFill>
              <a:srgbClr val="2B2E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39512" y="1645920"/>
            <a:ext cx="548640" cy="548640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9512" y="1673352"/>
            <a:ext cx="548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10912" y="2304288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Topic Modeling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10912" y="2788920"/>
            <a:ext cx="1005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BERTopic · NER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733 topics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71616" y="2724912"/>
            <a:ext cx="82296" cy="54864"/>
          </a:xfrm>
          <a:prstGeom prst="rect">
            <a:avLst/>
          </a:prstGeom>
          <a:solidFill>
            <a:srgbClr val="00C8C8">
              <a:alpha val="70000"/>
            </a:srgbClr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44768" y="1508760"/>
            <a:ext cx="1115568" cy="2560320"/>
          </a:xfrm>
          <a:prstGeom prst="roundRect">
            <a:avLst>
              <a:gd name="adj" fmla="val 6557"/>
            </a:avLst>
          </a:prstGeom>
          <a:solidFill>
            <a:srgbClr val="3B258C"/>
          </a:solidFill>
          <a:ln w="12700">
            <a:solidFill>
              <a:srgbClr val="3B25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28232" y="1645920"/>
            <a:ext cx="548640" cy="548640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1673352"/>
            <a:ext cx="548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99632" y="2304288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Warehouse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99632" y="2788920"/>
            <a:ext cx="1005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289 300 posts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260336" y="2724912"/>
            <a:ext cx="82296" cy="54864"/>
          </a:xfrm>
          <a:prstGeom prst="rect">
            <a:avLst/>
          </a:prstGeom>
          <a:solidFill>
            <a:srgbClr val="00C8C8">
              <a:alpha val="70000"/>
            </a:srgbClr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33488" y="1508760"/>
            <a:ext cx="1115568" cy="2560320"/>
          </a:xfrm>
          <a:prstGeom prst="roundRect">
            <a:avLst>
              <a:gd name="adj" fmla="val 6557"/>
            </a:avLst>
          </a:prstGeom>
          <a:solidFill>
            <a:srgbClr val="4A158C"/>
          </a:solidFill>
          <a:ln w="12700">
            <a:solidFill>
              <a:srgbClr val="4A15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616952" y="1645920"/>
            <a:ext cx="548640" cy="548640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16952" y="1673352"/>
            <a:ext cx="548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88352" y="2304288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388352" y="2788920"/>
            <a:ext cx="1005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dashboards .pbix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 PDF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48640" y="4251960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46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548640" y="46634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 scrapées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697480" y="4251960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301 707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2697480" y="46634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messages analysés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46320" y="4251960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4846320" y="46634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étapes pipeline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995160" y="4251960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289 300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6995160" y="46634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posts dans le DW</a:t>
            </a:r>
            <a:endParaRPr lang="en-US" sz="900" dirty="0"/>
          </a:p>
        </p:txBody>
      </p:sp>
      <p:pic>
        <p:nvPicPr>
          <p:cNvPr id="57" name="Picture 56"/>
          <p:cNvPicPr/>
          <p:nvPr/>
        </p:nvPicPr>
        <p:blipFill>
          <a:blip r:embed="rId3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2" grpId="0"/>
      <p:bldP spid="16" grpId="0"/>
      <p:bldP spid="17" grpId="0"/>
      <p:bldP spid="18" grpId="0"/>
      <p:bldP spid="22" grpId="0"/>
      <p:bldP spid="23" grpId="0"/>
      <p:bldP spid="24" grpId="0"/>
      <p:bldP spid="28" grpId="0"/>
      <p:bldP spid="29" grpId="0"/>
      <p:bldP spid="30" grpId="0"/>
      <p:bldP spid="34" grpId="0"/>
      <p:bldP spid="35" grpId="0"/>
      <p:bldP spid="36" grpId="0"/>
      <p:bldP spid="40" grpId="0"/>
      <p:bldP spid="41" grpId="0"/>
      <p:bldP spid="42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64008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E1–E2 : Collecte &amp; Standardisation des Données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16152"/>
            <a:ext cx="20116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63677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 scrapées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18872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216152"/>
            <a:ext cx="20116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588 424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96312" y="163677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Lignes brutes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118872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1216152"/>
            <a:ext cx="20116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72584" y="163677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 actives DW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48856" y="118872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48856" y="1216152"/>
            <a:ext cx="20116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48856" y="163677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Colonnes standardisées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148840"/>
            <a:ext cx="4160520" cy="2697480"/>
          </a:xfrm>
          <a:prstGeom prst="roundRect">
            <a:avLst>
              <a:gd name="adj" fmla="val 2712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24028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 collectées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63347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🗣  Forums médicaux FR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Doctissimo · Journaldesfemmes · Carenity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054096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💬  Forums 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255264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Reddit · Healthboards · Patient Info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📱  App Stores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675888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Google Play · Apple App Store (avis)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895344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🔬  Registres cliniques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096512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ClinicalTrials.gov · PubMed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315968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 Communautés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517136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EndoFrance · EndoFound · Endometriosis UK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148840"/>
            <a:ext cx="4160520" cy="2697480"/>
          </a:xfrm>
          <a:prstGeom prst="roundRect">
            <a:avLst>
              <a:gd name="adj" fmla="val 2712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224028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Schéma standardisé (SRCxxx_after.csv)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54880" y="2633472"/>
            <a:ext cx="397764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65176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B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source_code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36208" y="2651760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Identifiant source (SRC001…)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2894076"/>
            <a:ext cx="3977640" cy="228600"/>
          </a:xfrm>
          <a:prstGeom prst="roundRect">
            <a:avLst>
              <a:gd name="adj" fmla="val 12000"/>
            </a:avLst>
          </a:prstGeom>
          <a:solidFill>
            <a:srgbClr val="D0F5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912364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B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message_id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36208" y="2912364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unique du message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3154680"/>
            <a:ext cx="397764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317296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B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thread_id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36208" y="317296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fil de discussion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3415284"/>
            <a:ext cx="3977640" cy="228600"/>
          </a:xfrm>
          <a:prstGeom prst="roundRect">
            <a:avLst>
              <a:gd name="adj" fmla="val 12000"/>
            </a:avLst>
          </a:prstGeom>
          <a:solidFill>
            <a:srgbClr val="D0F5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34335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B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body_raw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36208" y="343357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Texte brut du message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3675888"/>
            <a:ext cx="397764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6941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B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body_clean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36208" y="3694176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Texte nettoyé &amp; normalisé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54880" y="3936492"/>
            <a:ext cx="3977640" cy="228600"/>
          </a:xfrm>
          <a:prstGeom prst="roundRect">
            <a:avLst>
              <a:gd name="adj" fmla="val 12000"/>
            </a:avLst>
          </a:prstGeom>
          <a:solidFill>
            <a:srgbClr val="D0F5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395478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B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post_datetime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36208" y="3954780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Date/heure de publication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54880" y="4197096"/>
            <a:ext cx="397764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4215384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B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language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36208" y="4215384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Langue déclarée / détectée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54880" y="4457700"/>
            <a:ext cx="3977640" cy="228600"/>
          </a:xfrm>
          <a:prstGeom prst="roundRect">
            <a:avLst>
              <a:gd name="adj" fmla="val 12000"/>
            </a:avLst>
          </a:prstGeom>
          <a:solidFill>
            <a:srgbClr val="D0F5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447598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B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country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236208" y="447598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Pays d'origine</a:t>
            </a:r>
            <a:endParaRPr lang="en-US" sz="850" dirty="0"/>
          </a:p>
        </p:txBody>
      </p:sp>
      <p:pic>
        <p:nvPicPr>
          <p:cNvPr id="56" name="Picture 55"/>
          <p:cNvPicPr/>
          <p:nvPr/>
        </p:nvPicPr>
        <p:blipFill>
          <a:blip r:embed="rId3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  <p:bldP spid="11" grpId="0"/>
      <p:bldP spid="13" grpId="0"/>
      <p:bldP spid="14" grpId="0"/>
      <p:bldP spid="16" grpId="0"/>
      <p:bldP spid="17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1" grpId="0"/>
      <p:bldP spid="33" grpId="0"/>
      <p:bldP spid="34" grpId="0"/>
      <p:bldP spid="36" grpId="0"/>
      <p:bldP spid="37" grpId="0"/>
      <p:bldP spid="39" grpId="0"/>
      <p:bldP spid="40" grpId="0"/>
      <p:bldP spid="42" grpId="0"/>
      <p:bldP spid="43" grpId="0"/>
      <p:bldP spid="45" grpId="0"/>
      <p:bldP spid="46" grpId="0"/>
      <p:bldP spid="48" grpId="0"/>
      <p:bldP spid="49" grpId="0"/>
      <p:bldP spid="51" grpId="0"/>
      <p:bldP spid="52" grpId="0"/>
      <p:bldP spid="54" grpId="0"/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E3 : Analyse NLP &amp; Sentiment Bilingue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298448"/>
            <a:ext cx="2578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🇫🇷  Français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45920"/>
            <a:ext cx="2578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cmarkea/distilcamembert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base-sentiment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257860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CamemBERT distillé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0700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007B7B"/>
          </a:solidFill>
          <a:ln w="12700">
            <a:solidFill>
              <a:srgbClr val="007B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298448"/>
            <a:ext cx="2578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🇬🇧🇺🇸  Anglais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645920"/>
            <a:ext cx="2578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cardiffnlp/twitter-roberta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base-sentiment-latest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10128" y="2176272"/>
            <a:ext cx="257860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RoBERTa (Twitter EN)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0700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1E3E8C"/>
          </a:solidFill>
          <a:ln w="12700">
            <a:solidFill>
              <a:srgbClr val="1E3E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36208" y="1298448"/>
            <a:ext cx="2578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 Multilingue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645920"/>
            <a:ext cx="2578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cardiffnlp/twitter-xlm-roberta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base-sentiment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36208" y="2176272"/>
            <a:ext cx="257860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XLM-RoBERTa (100+ langues)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301752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de traitement (run_sentiment.py)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389888" cy="841248"/>
          </a:xfrm>
          <a:prstGeom prst="roundRect">
            <a:avLst>
              <a:gd name="adj" fmla="val 7609"/>
            </a:avLst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34107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" y="3410712"/>
            <a:ext cx="256032" cy="256032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34107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" y="3694176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Chargement 46 CSV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64208" y="3758184"/>
            <a:ext cx="54864" cy="54864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19072" y="3364992"/>
            <a:ext cx="1389888" cy="841248"/>
          </a:xfrm>
          <a:prstGeom prst="roundRect">
            <a:avLst>
              <a:gd name="adj" fmla="val 7609"/>
            </a:avLst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73936" y="34107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73936" y="3410712"/>
            <a:ext cx="256032" cy="256032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73936" y="34107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773936" y="3694176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Détection langue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(langdetect)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08960" y="3758184"/>
            <a:ext cx="54864" cy="54864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63824" y="3364992"/>
            <a:ext cx="1389888" cy="841248"/>
          </a:xfrm>
          <a:prstGeom prst="roundRect">
            <a:avLst>
              <a:gd name="adj" fmla="val 7609"/>
            </a:avLst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18688" y="34107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18688" y="3410712"/>
            <a:ext cx="256032" cy="256032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18688" y="34107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18688" y="3694176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Sélection modèle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(CamemBERT / RoBERTa)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53712" y="3758184"/>
            <a:ext cx="54864" cy="54864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08576" y="3364992"/>
            <a:ext cx="1389888" cy="841248"/>
          </a:xfrm>
          <a:prstGeom prst="roundRect">
            <a:avLst>
              <a:gd name="adj" fmla="val 7609"/>
            </a:avLst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4107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410712"/>
            <a:ext cx="256032" cy="256032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4107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63440" y="3694176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Inférence sentiment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(Positive/Negative/Neutral)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98464" y="3758184"/>
            <a:ext cx="54864" cy="54864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53328" y="3364992"/>
            <a:ext cx="1389888" cy="841248"/>
          </a:xfrm>
          <a:prstGeom prst="roundRect">
            <a:avLst>
              <a:gd name="adj" fmla="val 7609"/>
            </a:avLst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8192" y="34107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08192" y="3410712"/>
            <a:ext cx="256032" cy="256032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34107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08192" y="3694176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 indicateurs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(is_human · ziwig_mentioned)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443216" y="3758184"/>
            <a:ext cx="54864" cy="54864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98080" y="3364992"/>
            <a:ext cx="1389888" cy="841248"/>
          </a:xfrm>
          <a:prstGeom prst="roundRect">
            <a:avLst>
              <a:gd name="adj" fmla="val 7609"/>
            </a:avLst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52944" y="34107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52944" y="3410712"/>
            <a:ext cx="256032" cy="256032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52944" y="34107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552944" y="3694176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Sauvegarde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sentiment_results.csv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74320" y="434340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Durée totale : ~23 heures sur CPU Windows — 301 707 messages · 30 langues détectées · 0 lignes non analysées</a:t>
            </a:r>
            <a:endParaRPr lang="en-US" sz="950" dirty="0"/>
          </a:p>
        </p:txBody>
      </p:sp>
      <p:pic>
        <p:nvPicPr>
          <p:cNvPr id="55" name="Picture 54"/>
          <p:cNvPicPr/>
          <p:nvPr/>
        </p:nvPicPr>
        <p:blipFill>
          <a:blip r:embed="rId3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20" grpId="0"/>
      <p:bldP spid="22" grpId="0"/>
      <p:bldP spid="23" grpId="0"/>
      <p:bldP spid="26" grpId="0"/>
      <p:bldP spid="28" grpId="0"/>
      <p:bldP spid="29" grpId="0"/>
      <p:bldP spid="32" grpId="0"/>
      <p:bldP spid="34" grpId="0"/>
      <p:bldP spid="35" grpId="0"/>
      <p:bldP spid="38" grpId="0"/>
      <p:bldP spid="40" grpId="0"/>
      <p:bldP spid="41" grpId="0"/>
      <p:bldP spid="44" grpId="0"/>
      <p:bldP spid="46" grpId="0"/>
      <p:bldP spid="47" grpId="0"/>
      <p:bldP spid="50" grpId="0"/>
      <p:bldP spid="52" grpId="0"/>
      <p:bldP spid="53" grpId="0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E3 : Résultats de l'Analyse de Sentiment</a:t>
            </a:r>
            <a:endParaRPr lang="en-US" sz="2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188720"/>
          <a:ext cx="39319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434840" y="1188720"/>
            <a:ext cx="43891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0" y="1225296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301 707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97880" y="126187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messages analysés au total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34840" y="1673352"/>
            <a:ext cx="43891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0" y="1709928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49%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97880" y="17465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Négatif (dominant)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34840" y="2157984"/>
            <a:ext cx="43891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0" y="2194560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38%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97880" y="223113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Positif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34840" y="2642616"/>
            <a:ext cx="43891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572000" y="2679192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897880" y="27157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Neutre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434840" y="3127248"/>
            <a:ext cx="43891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572000" y="3163824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72%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897880" y="32004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messages issus d'humains (is_human)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434840" y="3611880"/>
            <a:ext cx="43891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572000" y="3648456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97880" y="36850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langues détectées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434840" y="4096512"/>
            <a:ext cx="43891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572000" y="4133088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18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897880" y="416966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mentions Ziwig (14 Neutre · 4 Positif)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Résultat cohérent avec la nature des discussions médicales autour d'une maladie douloureuse et sous-diagnostiquée.</a:t>
            </a:r>
            <a:endParaRPr lang="en-US" sz="950" dirty="0"/>
          </a:p>
        </p:txBody>
      </p:sp>
      <p:pic>
        <p:nvPicPr>
          <p:cNvPr id="51" name="Picture 50"/>
          <p:cNvPicPr/>
          <p:nvPr/>
        </p:nvPicPr>
        <p:blipFill>
          <a:blip r:embed="rId4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6" grpId="0">
        <p:bldAsOne/>
      </p:bldGraphic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  <p:bldP spid="20" grpId="0"/>
      <p:bldP spid="21" grpId="0"/>
      <p:bldP spid="23" grpId="0"/>
      <p:bldP spid="24" grpId="0"/>
      <p:bldP spid="26" grpId="0"/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E4 : Métriques &amp; KPIs — Résultats par Source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274320" y="1008888"/>
          <a:ext cx="6766560" cy="3291840"/>
        </p:xfrm>
        <a:graphic>
          <a:graphicData uri="http://schemas.openxmlformats.org/drawingml/2006/table">
            <a:tbl>
              <a:tblPr/>
              <a:tblGrid>
                <a:gridCol w="2194560"/>
                <a:gridCol w="548640"/>
                <a:gridCol w="1097280"/>
                <a:gridCol w="914400"/>
                <a:gridCol w="914400"/>
                <a:gridCol w="109728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8C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Source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8C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Pays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8C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 Posts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8C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% Positif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8C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% Négatif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8C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Score Moy.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forum_doctissimo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135 818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38.9%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49.5%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NLP Unknown Source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107 443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7.4%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12.6%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0.21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forum_reddit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38 624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27.7%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42.8%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pubmed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10 000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0.85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forum_patient_info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3 215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15.0%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52.5%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forum_journaldesfemmes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2 389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44.2%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34.7%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clinicaltrials_gov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899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0.87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forum_discourse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55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30.9%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43.6%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forum_healthboards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UK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7.1%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66.7%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30098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Scoring d'opportunité pays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4563237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56311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France</a:t>
            </a:r>
            <a:endParaRPr lang="en-US" sz="1000" dirty="0"/>
          </a:p>
        </p:txBody>
      </p:sp>
      <p:sp>
        <p:nvSpPr>
          <p:cNvPr id="6" name="Text 7"/>
          <p:cNvSpPr/>
          <p:nvPr/>
        </p:nvSpPr>
        <p:spPr>
          <a:xfrm>
            <a:off x="1691640" y="456311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62.6/100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4615561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8880" y="4615561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200400" y="4563237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91840" y="4575175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États-Unis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0" y="456311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56/100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94960" y="4615561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394960" y="4615561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080760" y="4563237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4562475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Royaume-Uni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52360" y="4562475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3.6/100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229600" y="4615561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0" y="4615561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Watchlist</a:t>
            </a:r>
            <a:endParaRPr lang="en-US" sz="750" dirty="0"/>
          </a:p>
        </p:txBody>
      </p:sp>
      <p:pic>
        <p:nvPicPr>
          <p:cNvPr id="51" name="Picture 50"/>
          <p:cNvPicPr/>
          <p:nvPr/>
        </p:nvPicPr>
        <p:blipFill>
          <a:blip r:embed="rId3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6" grpId="0"/>
      <p:bldP spid="12" grpId="0"/>
      <p:bldP spid="14" grpId="0"/>
      <p:bldP spid="15" grpId="0"/>
      <p:bldP spid="16" grpId="0" animBg="1"/>
      <p:bldP spid="17" grpId="0"/>
      <p:bldP spid="19" grpId="0"/>
      <p:bldP spid="20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E5 : Topic Modeling &amp; Insights (BERTopic)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16152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733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Topics identifiés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18872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216152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140 380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96312" y="162763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Documents traités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118872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1216152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~8h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72584" y="162763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Durée CPU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48856" y="118872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48856" y="1216152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10 434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48856" y="162763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Irritants SAV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148840"/>
            <a:ext cx="4160520" cy="2697480"/>
          </a:xfrm>
          <a:prstGeom prst="roundRect">
            <a:avLst>
              <a:gd name="adj" fmla="val 2712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24028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Topics identifiés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2633472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670048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8680" y="267004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Douleurs chroniques &amp; traitements de fond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91840" y="2670048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4 732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2990088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026664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68680" y="3026664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Cœlioscopie &amp; kystes ovariens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91840" y="3026664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1 546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3346704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383280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68680" y="338328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Effets secondaires traitements hormonaux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91840" y="338328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1 320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3703320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739896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68680" y="3739896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Ménopause artificielle &amp; injections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91840" y="373989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1 288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1480" y="4059936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096512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68680" y="40965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Diagnostic IRM &amp; parcours diagnostique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91840" y="4096512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1 268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" y="4416552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4453128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68680" y="44531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Endométriose — parcours patient général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91840" y="4453128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1 167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214884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00600" y="22402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Clustering Stratégique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773168" y="260604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Axe 1 — Médical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95160" y="260604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16 293 messages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955280" y="2651760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2651760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73168" y="300837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Axe 2 — SAV/Expérience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95160" y="3008376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1 584 messages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955280" y="3054096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55280" y="305409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352044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800600" y="36118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Extraction d'Entités (NER spaCy)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773168" y="397764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B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LOC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321808" y="3977640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90 480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144768" y="397764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Localisations géographiques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773168" y="418795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B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MISC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321808" y="4187952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88 424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144768" y="4187952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Médicaments · procédures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773168" y="439826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B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321808" y="4398264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51 097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144768" y="4398264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Personnes · pseudonymes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773168" y="4608576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B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ORG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321808" y="4608576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45 696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144768" y="4608576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Hôpitaux · organisations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773168" y="4846320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NER : 275 697 entités extraites</a:t>
            </a:r>
            <a:endParaRPr lang="en-US" sz="900" dirty="0"/>
          </a:p>
        </p:txBody>
      </p:sp>
      <p:pic>
        <p:nvPicPr>
          <p:cNvPr id="69" name="Picture 68"/>
          <p:cNvPicPr/>
          <p:nvPr/>
        </p:nvPicPr>
        <p:blipFill>
          <a:blip r:embed="rId3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  <p:bldP spid="11" grpId="0"/>
      <p:bldP spid="13" grpId="0"/>
      <p:bldP spid="14" grpId="0"/>
      <p:bldP spid="16" grpId="0"/>
      <p:bldP spid="17" grpId="0"/>
      <p:bldP spid="19" grpId="0"/>
      <p:bldP spid="21" grpId="0"/>
      <p:bldP spid="22" grpId="0"/>
      <p:bldP spid="23" grpId="0"/>
      <p:bldP spid="25" grpId="0"/>
      <p:bldP spid="26" grpId="0"/>
      <p:bldP spid="27" grpId="0"/>
      <p:bldP spid="29" grpId="0"/>
      <p:bldP spid="30" grpId="0"/>
      <p:bldP spid="31" grpId="0"/>
      <p:bldP spid="33" grpId="0"/>
      <p:bldP spid="34" grpId="0"/>
      <p:bldP spid="35" grpId="0"/>
      <p:bldP spid="37" grpId="0"/>
      <p:bldP spid="38" grpId="0"/>
      <p:bldP spid="39" grpId="0"/>
      <p:bldP spid="41" grpId="0"/>
      <p:bldP spid="42" grpId="0"/>
      <p:bldP spid="43" grpId="0"/>
      <p:bldP spid="45" grpId="0"/>
      <p:bldP spid="46" grpId="0"/>
      <p:bldP spid="47" grpId="0"/>
      <p:bldP spid="49" grpId="0"/>
      <p:bldP spid="50" grpId="0"/>
      <p:bldP spid="51" grpId="0"/>
      <p:bldP spid="53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07B7B">
              <a:alpha val="20000"/>
            </a:srgbClr>
          </a:solidFill>
          <a:ln w="12700">
            <a:solidFill>
              <a:srgbClr val="007B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00C8C8">
              <a:alpha val="15000"/>
            </a:srgbClr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E6 : Data Warehouse SQL Server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en étoile (Star Schema) · EndometriosisDW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1031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  <a:effectLst>
            <a:outerShdw blurRad="1778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21284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fact_posts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56032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289 300 lignes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81635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· Engagement · Ziwig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3716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22060"/>
          </a:solidFill>
          <a:ln w="19050">
            <a:solidFill>
              <a:srgbClr val="007B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42646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dim_date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171907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11 323 lignes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193852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Calendrier 2000–2030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32004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22060"/>
          </a:solidFill>
          <a:ln w="19050">
            <a:solidFill>
              <a:srgbClr val="007B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25526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dim_source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354787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lignes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376732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sources de données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75120" y="13716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22060"/>
          </a:solidFill>
          <a:ln w="19050">
            <a:solidFill>
              <a:srgbClr val="007B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42646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dim_thread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66560" y="171907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22 627 lignes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193852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Fils de discussion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75120" y="32004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22060"/>
          </a:solidFill>
          <a:ln w="19050">
            <a:solidFill>
              <a:srgbClr val="007B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25526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dim_author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66560" y="354787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3 840 lignes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0" y="376732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Auteurs uniques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431596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289 300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posts indexés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97480" y="431596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697480" y="47091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tables DW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31596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846320" y="47091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colonnes documentées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95160" y="431596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995160" y="47091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performance</a:t>
            </a:r>
            <a:endParaRPr lang="en-US" sz="900" dirty="0"/>
          </a:p>
        </p:txBody>
      </p:sp>
      <p:pic>
        <p:nvPicPr>
          <p:cNvPr id="51" name="Picture 50"/>
          <p:cNvPicPr/>
          <p:nvPr/>
        </p:nvPicPr>
        <p:blipFill>
          <a:blip r:embed="rId3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/>
      <p:bldP spid="14" grpId="0"/>
      <p:bldP spid="15" grpId="0"/>
      <p:bldP spid="16" grpId="0"/>
      <p:bldP spid="18" grpId="0"/>
      <p:bldP spid="19" grpId="0"/>
      <p:bldP spid="20" grpId="0"/>
      <p:bldP spid="22" grpId="0"/>
      <p:bldP spid="23" grpId="0"/>
      <p:bldP spid="24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E6 : Défis Techniques Résolus — ETL Python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292608" cy="530352"/>
          </a:xfrm>
          <a:prstGeom prst="roundRect">
            <a:avLst>
              <a:gd name="adj" fmla="val 12500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99032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325880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 paramètres SQL Server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1618488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chunksize=50 → 50 × n colonnes &lt; 2 100 params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167128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04288"/>
            <a:ext cx="292608" cy="530352"/>
          </a:xfrm>
          <a:prstGeom prst="roundRect">
            <a:avLst>
              <a:gd name="adj" fmla="val 12500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2258568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Ordre suppression FK (CASCADE)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2551176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fact_posts → dim_thread → dim_author → dim_source → dim_date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099816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36976"/>
            <a:ext cx="292608" cy="530352"/>
          </a:xfrm>
          <a:prstGeom prst="roundRect">
            <a:avLst>
              <a:gd name="adj" fmla="val 12500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64408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319125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 non récursif (46 → 86 CSV)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9808" y="3483864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glob('**/*.csv', recursive=True) pour tous les sous-dossiers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032504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169664"/>
            <a:ext cx="292608" cy="530352"/>
          </a:xfrm>
          <a:prstGeom prst="roundRect">
            <a:avLst>
              <a:gd name="adj" fmla="val 12500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9709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4123944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Dates avec timezone (+00:00)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9808" y="4416552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pd.to_datetime(utc=True).tz_convert(None) → datetime naïf UTC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234440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371600"/>
            <a:ext cx="292608" cy="530352"/>
          </a:xfrm>
          <a:prstGeom prst="roundRect">
            <a:avLst>
              <a:gd name="adj" fmla="val 12500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399032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30368" y="1325880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 trop courts (URLs)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30368" y="1618488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thread_id · thread_url_id élargi à NVARCHAR(500)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167128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304288"/>
            <a:ext cx="292608" cy="530352"/>
          </a:xfrm>
          <a:prstGeom prst="roundRect">
            <a:avLst>
              <a:gd name="adj" fmla="val 12500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33172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30368" y="2258568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NULL/NaN dans dim_source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30368" y="2551176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Filtrage safe_str() — exclusion valeurs None avant insertion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099816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236976"/>
            <a:ext cx="292608" cy="530352"/>
          </a:xfrm>
          <a:prstGeom prst="roundRect">
            <a:avLst>
              <a:gd name="adj" fmla="val 12500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264408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30368" y="319125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Doublon casse 'Lola' vs 'lola'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30368" y="3483864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Déduplication sur .lower() + stockage en minuscules en base</a:t>
            </a:r>
            <a:endParaRPr lang="en-US" sz="900" dirty="0"/>
          </a:p>
        </p:txBody>
      </p:sp>
      <p:pic>
        <p:nvPicPr>
          <p:cNvPr id="51" name="Picture 50"/>
          <p:cNvPicPr/>
          <p:nvPr/>
        </p:nvPicPr>
        <p:blipFill>
          <a:blip r:embed="rId3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3" grpId="0"/>
      <p:bldP spid="14" grpId="0"/>
      <p:bldP spid="15" grpId="0"/>
      <p:bldP spid="18" grpId="0"/>
      <p:bldP spid="19" grpId="0"/>
      <p:bldP spid="20" grpId="0"/>
      <p:bldP spid="23" grpId="0"/>
      <p:bldP spid="24" grpId="0"/>
      <p:bldP spid="25" grpId="0"/>
      <p:bldP spid="28" grpId="0"/>
      <p:bldP spid="29" grpId="0"/>
      <p:bldP spid="30" grpId="0"/>
      <p:bldP spid="33" grpId="0"/>
      <p:bldP spid="34" grpId="0"/>
      <p:bldP spid="35" grpId="0"/>
      <p:bldP spid="38" grpId="0"/>
      <p:bldP spid="39" grpId="0"/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549275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E7 : Dashboard Power BI — Axe 1 · Patient Insights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6348"/>
            <a:ext cx="2834640" cy="3611880"/>
          </a:xfrm>
          <a:prstGeom prst="roundRect">
            <a:avLst>
              <a:gd name="adj" fmla="val 322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225296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1 — Vue Générale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682496"/>
            <a:ext cx="261518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cartes KPI : 298K posts · 0.24 positif · 0.33 négatif · 0.42 neutre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377440"/>
            <a:ext cx="261518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Graphique linéaire : Total Posts par mois (2018–2026)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3072384"/>
            <a:ext cx="261518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Barres : Total Posts par source (doctissimo dominant)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3767328"/>
            <a:ext cx="261518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Donut : répartition des sentiments globaux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27832" y="1006348"/>
            <a:ext cx="2834640" cy="3611880"/>
          </a:xfrm>
          <a:prstGeom prst="roundRect">
            <a:avLst>
              <a:gd name="adj" fmla="val 3226"/>
            </a:avLst>
          </a:prstGeom>
          <a:solidFill>
            <a:srgbClr val="007B7B"/>
          </a:solidFill>
          <a:ln w="12700">
            <a:solidFill>
              <a:srgbClr val="007B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1225296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2 — Sentiment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682496"/>
            <a:ext cx="261518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Barres groupées : sentiment × source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37560" y="2377440"/>
            <a:ext cx="261518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 : score sentiment vs likes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3072384"/>
            <a:ext cx="261518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Courbe : % Positif &amp; % Négatif par mois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3767328"/>
            <a:ext cx="261518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Slicers : source · année · sentiment_label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1344" y="1006348"/>
            <a:ext cx="2834640" cy="3611880"/>
          </a:xfrm>
          <a:prstGeom prst="roundRect">
            <a:avLst>
              <a:gd name="adj" fmla="val 3226"/>
            </a:avLst>
          </a:prstGeom>
          <a:solidFill>
            <a:srgbClr val="1E3E8C"/>
          </a:solidFill>
          <a:ln w="12700">
            <a:solidFill>
              <a:srgbClr val="1E3E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91072" y="1225296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3 — Ziwig Focus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91072" y="1682496"/>
            <a:ext cx="261518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: 1 post Ziwig détecté dans le corpus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91072" y="2377440"/>
            <a:ext cx="261518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du post : Négatif · Mois : Février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91072" y="3072384"/>
            <a:ext cx="261518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: body_clean visible avec texte complet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91072" y="3767328"/>
            <a:ext cx="261518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Graphique : mentions Ziwig par mois_name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1150" y="4681855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89602"/>
            <a:ext cx="8321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Mesures DAX utilisées : Total Posts · % Positive · % Negative · % Neutral · Avg Sentiment Score · Ziwig Posts · % Ziwig Positive · Avg Rating · Agreement Rate</a:t>
            </a:r>
            <a:endParaRPr lang="en-US" sz="900" dirty="0"/>
          </a:p>
        </p:txBody>
      </p:sp>
      <p:pic>
        <p:nvPicPr>
          <p:cNvPr id="51" name="Picture 50"/>
          <p:cNvPicPr/>
          <p:nvPr/>
        </p:nvPicPr>
        <p:blipFill>
          <a:blip r:embed="rId3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2" grpId="0"/>
      <p:bldP spid="23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568325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E7 : Dashboard Power BI — Axe 2 · Insights Marché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2834640" cy="3291840"/>
          </a:xfrm>
          <a:prstGeom prst="roundRect">
            <a:avLst>
              <a:gd name="adj" fmla="val 322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344676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1 — Country Ranking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801876"/>
            <a:ext cx="261518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Carte Bing : bulles proportionnelles (US &gt;&gt; FR &gt;&gt; UK)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451100"/>
            <a:ext cx="261518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Barres : Total Posts par pays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3100324"/>
            <a:ext cx="261518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Barres : % Positif par pays (FR=39% &gt; US=12% &gt; UK=7%)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3721608"/>
            <a:ext cx="261518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Slicers : year · source_platform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27832" y="1207008"/>
            <a:ext cx="2834640" cy="3291840"/>
          </a:xfrm>
          <a:prstGeom prst="roundRect">
            <a:avLst>
              <a:gd name="adj" fmla="val 3226"/>
            </a:avLst>
          </a:prstGeom>
          <a:solidFill>
            <a:srgbClr val="007B7B"/>
          </a:solidFill>
          <a:ln w="12700">
            <a:solidFill>
              <a:srgbClr val="007B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1344676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2 — Source Scoring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801876"/>
            <a:ext cx="261518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: 9 sources avec Total Posts + % neg + % pos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37560" y="2451100"/>
            <a:ext cx="261518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: 298 485 posts · 33% négatif · 24% positif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3100324"/>
            <a:ext cx="261518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Barres groupées : % Négatif vs % Positif par source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3721608"/>
            <a:ext cx="261518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 par taux de négativité décroissant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1344" y="1207008"/>
            <a:ext cx="2834640" cy="3291840"/>
          </a:xfrm>
          <a:prstGeom prst="roundRect">
            <a:avLst>
              <a:gd name="adj" fmla="val 3226"/>
            </a:avLst>
          </a:prstGeom>
          <a:solidFill>
            <a:srgbClr val="1E3E8C"/>
          </a:solidFill>
          <a:ln w="12700">
            <a:solidFill>
              <a:srgbClr val="1E3E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91072" y="1344676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3 — SAV Irritants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91072" y="1801876"/>
            <a:ext cx="261518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Barres : Total Posts par source avec developer_reply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91072" y="2451100"/>
            <a:ext cx="261518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scrollable : review_text · body_clean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91072" y="3100324"/>
            <a:ext cx="261518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Posts FR visibles (plaintes suivi médical)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91072" y="3721608"/>
            <a:ext cx="261518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 avec réponses développeur identifiées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4462145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Données pays extraites du Data Warehouse 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680712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0055" y="4721479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🇫🇷 France  135 818 posts · 39% positif · Medium — 62.6/100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84017" y="4680712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64992" y="4680839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🇺🇸 États-Unis  160 236 posts · 12% positif · Medium — 56.0/100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50229" y="4680712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27064" y="4680839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🇬🇧 Royaume-Uni  42 posts · 7% positif · Watchlist — 3.6/100</a:t>
            </a:r>
            <a:endParaRPr lang="en-US" sz="850" dirty="0"/>
          </a:p>
        </p:txBody>
      </p:sp>
      <p:pic>
        <p:nvPicPr>
          <p:cNvPr id="51" name="Picture 50"/>
          <p:cNvPicPr/>
          <p:nvPr/>
        </p:nvPicPr>
        <p:blipFill>
          <a:blip r:embed="rId3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2" grpId="0"/>
      <p:bldP spid="23" grpId="0"/>
      <p:bldP spid="24" grpId="0"/>
      <p:bldP spid="26" grpId="0"/>
      <p:bldP spid="28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7B7B">
              <a:alpha val="20000"/>
            </a:srgbClr>
          </a:solidFill>
          <a:ln w="12700">
            <a:solidFill>
              <a:srgbClr val="00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8368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Résultats Clés &amp; Insights Actionnables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122060"/>
          </a:solidFill>
          <a:ln w="12700">
            <a:solidFill>
              <a:srgbClr val="007B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32588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Sentiment dominant : Négatif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49% des messages expriment un sentiment négatif, reflétant la douleur et l'errance diagnostique des patientes. Opportunité de positionnement pour Ziwig comme solution diagnostique rapide.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122060"/>
          </a:solidFill>
          <a:ln w="12700">
            <a:solidFill>
              <a:srgbClr val="007B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32588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🌍  France — Marché prioritaire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135 818 posts FR · Score 62.6/100 · 39% positif. La France reste le marché le plus actif et le plus favorable au déploiement de Ziwig.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496312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122060"/>
          </a:solidFill>
          <a:ln w="12700">
            <a:solidFill>
              <a:srgbClr val="007B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58775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🔬  Douleur &amp; Traitement = Top thèmes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907792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Topic 0 (4 732 messages) : douleurs chroniques. L'axe médical représente 91% des messages classés. Contenu très pertinent pour alimenter les recommandations produit.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2496312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122060"/>
          </a:solidFill>
          <a:ln w="12700">
            <a:solidFill>
              <a:srgbClr val="007B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58775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Irritants SAV détectés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907792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10 434 messages SAV (7.4% du corpus). Mots-clés dominants : 'retour' (44.5%) et 'problème' (41.6%). Signal à surveiller pour l'équipe produit.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758184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122060"/>
          </a:solidFill>
          <a:ln w="12700">
            <a:solidFill>
              <a:srgbClr val="007B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849624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🏷️  Notoriété Ziwig à construire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169664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Seulement 18 mentions Ziwig sur 301 707 messages. Positionnement encore embryonnaire — forte opportunité de croissance de visibilité dans l'écosystème conversationnel.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3758184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122060"/>
          </a:solidFill>
          <a:ln w="12700">
            <a:solidFill>
              <a:srgbClr val="007B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849624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 Pipeline 100% autonome &amp; scalable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4169664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étapes · 46 sources · 289 300 posts indexés. Architecture réutilisable pour de futures campagnes de veille data sur d'autres pathologies ou marchés.</a:t>
            </a:r>
            <a:endParaRPr lang="en-US" sz="900" dirty="0"/>
          </a:p>
        </p:txBody>
      </p:sp>
      <p:pic>
        <p:nvPicPr>
          <p:cNvPr id="51" name="Picture 50"/>
          <p:cNvPicPr/>
          <p:nvPr/>
        </p:nvPicPr>
        <p:blipFill>
          <a:blip r:embed="rId3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  <p:bldP spid="20" grpId="0"/>
      <p:bldP spid="21" grpId="0"/>
      <p:bldP spid="23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4876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Stack Technique &amp; Compétences Mobilisées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982980"/>
            <a:ext cx="4251960" cy="1874520"/>
          </a:xfrm>
          <a:prstGeom prst="roundRect">
            <a:avLst>
              <a:gd name="adj" fmla="val 4878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092708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Langages &amp; Outils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45846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Python 3.14 (Windows)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78765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SQL Server (T-SQL, SSMS)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211683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Power BI Desktop (DAX)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4460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Git / Visual Studio Code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982980"/>
            <a:ext cx="4251960" cy="1874520"/>
          </a:xfrm>
          <a:prstGeom prst="roundRect">
            <a:avLst>
              <a:gd name="adj" fmla="val 4878"/>
            </a:avLst>
          </a:prstGeom>
          <a:solidFill>
            <a:srgbClr val="007B7B"/>
          </a:solidFill>
          <a:ln w="12700">
            <a:solidFill>
              <a:srgbClr val="007B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73752" y="1092708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Collecte &amp; Données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145846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BeautifulSoup4 · requests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73752" y="178765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pandas · numpy · glob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73752" y="211683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JSONL → CSV pipeline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73752" y="24460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46 scrapers configurables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002280"/>
            <a:ext cx="4251960" cy="1874520"/>
          </a:xfrm>
          <a:prstGeom prst="roundRect">
            <a:avLst>
              <a:gd name="adj" fmla="val 4878"/>
            </a:avLst>
          </a:prstGeom>
          <a:solidFill>
            <a:srgbClr val="1E3E8C"/>
          </a:solidFill>
          <a:ln w="12700">
            <a:solidFill>
              <a:srgbClr val="1E3E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" y="3104388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&amp; 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47014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CamemBERT (distillé FR)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" y="37993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RoBERTa (Twitter EN)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412851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XLM-RoBERTa (100+ langues)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912" y="44577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BERTopic · spaCy NER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002280"/>
            <a:ext cx="4251960" cy="1874520"/>
          </a:xfrm>
          <a:prstGeom prst="roundRect">
            <a:avLst>
              <a:gd name="adj" fmla="val 4878"/>
            </a:avLst>
          </a:prstGeom>
          <a:solidFill>
            <a:srgbClr val="2B2E8C"/>
          </a:solidFill>
          <a:ln w="12700">
            <a:solidFill>
              <a:srgbClr val="2B2E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73752" y="3104388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47014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Star Schema · ETL Python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73752" y="37993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SQLAlchemy · pyodbc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73752" y="412851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openpyxl · tqdm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73752" y="44577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7 bugs SQL Server résolus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4876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L'intégralité du projet a été conduite de manière totalement autonome, de la conception à la livraison au directeur.</a:t>
            </a:r>
            <a:endParaRPr lang="en-US" sz="1000" dirty="0"/>
          </a:p>
        </p:txBody>
      </p:sp>
      <p:pic>
        <p:nvPicPr>
          <p:cNvPr id="51" name="Picture 50"/>
          <p:cNvPicPr/>
          <p:nvPr/>
        </p:nvPicPr>
        <p:blipFill>
          <a:blip r:embed="rId3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4724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Perspectives &amp; Recommandations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2108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130808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Court terme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588008"/>
            <a:ext cx="2615184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Annoter l'échantillon manual_validation_sample_200.csv pour évaluer la précision NLP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557272"/>
            <a:ext cx="2615184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Enrichir le scraping UK (42 posts actuels — données insuffisantes pour analyse fiable)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3526536"/>
            <a:ext cx="2615184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Automatiser le refresh mensuel du pipeline via un planificateur (cron / Airflow)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27832" y="102108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007B7B"/>
          </a:solidFill>
          <a:ln w="12700">
            <a:solidFill>
              <a:srgbClr val="007B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130808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Moyen terme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588008"/>
            <a:ext cx="2615184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Déployer GPU pour réduire BERTopic de 8h à ~30 min sur grand corpus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2557272"/>
            <a:ext cx="2615184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Enrichir le dictionnaire SAV et ajouter une classification par niveau de gravité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37560" y="3526536"/>
            <a:ext cx="2615184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Étendre la cartographie NER (LOC) pour identifier les déserts médicaux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81344" y="102108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1E3E8C"/>
          </a:solidFill>
          <a:ln w="12700">
            <a:solidFill>
              <a:srgbClr val="1E3E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91072" y="1130808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 terme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1588008"/>
            <a:ext cx="2615184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Activer l'Axe 3 : veille R&amp;D / essais cliniques (hors scope version actuelle)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91072" y="2557272"/>
            <a:ext cx="2615184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Étendre à de nouvelles langues et marchés (DE, ES, IT, NL)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91072" y="3526536"/>
            <a:ext cx="2615184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Industrialiser le pipeline en microservices pour une exécution continue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7015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0611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Livrables remis au directeur : Axe1_PatientInsights.pdf · Axe2_InsightsMarche.pdf · metrics_by_source.csv · country_scoring.csv · Documentation technique complète</a:t>
            </a:r>
            <a:endParaRPr lang="en-US" sz="900" dirty="0"/>
          </a:p>
        </p:txBody>
      </p:sp>
      <p:pic>
        <p:nvPicPr>
          <p:cNvPr id="51" name="Picture 50"/>
          <p:cNvPicPr/>
          <p:nvPr/>
        </p:nvPicPr>
        <p:blipFill>
          <a:blip r:embed="rId3"/>
          <a:stretch>
            <a:fillRect/>
          </a:stretch>
        </p:blipFill>
        <p:spPr>
          <a:xfrm>
            <a:off x="330200" y="167640"/>
            <a:ext cx="966470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4348" y="-1380744"/>
            <a:ext cx="4572000" cy="4572000"/>
          </a:xfrm>
          <a:prstGeom prst="ellipse">
            <a:avLst/>
          </a:prstGeom>
          <a:solidFill>
            <a:srgbClr val="007B7B">
              <a:alpha val="20000"/>
            </a:srgbClr>
          </a:solidFill>
          <a:ln w="12700">
            <a:solidFill>
              <a:srgbClr val="007B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25880" y="2520856"/>
            <a:ext cx="3657600" cy="3657600"/>
          </a:xfrm>
          <a:prstGeom prst="ellipse">
            <a:avLst/>
          </a:prstGeom>
          <a:solidFill>
            <a:srgbClr val="00C8C8">
              <a:alpha val="15000"/>
            </a:srgbClr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13232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Générale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 stage de fin d'études chez Ziwig Morocco a permis de construire, de bout en bout et de manière totalement autonome, un pipeline complet de veille data sur l'endométriose.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2788920" cy="694944"/>
          </a:xfrm>
          <a:prstGeom prst="roundRect">
            <a:avLst>
              <a:gd name="adj" fmla="val 9211"/>
            </a:avLst>
          </a:prstGeom>
          <a:solidFill>
            <a:srgbClr val="EAF6F6"/>
          </a:solidFill>
          <a:ln w="12700">
            <a:solidFill>
              <a:srgbClr val="007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39112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46 sources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scrapées et standardisées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993392"/>
            <a:ext cx="2788920" cy="694944"/>
          </a:xfrm>
          <a:prstGeom prst="roundRect">
            <a:avLst>
              <a:gd name="adj" fmla="val 9211"/>
            </a:avLst>
          </a:prstGeom>
          <a:solidFill>
            <a:srgbClr val="EAF6F6"/>
          </a:solidFill>
          <a:ln w="12700">
            <a:solidFill>
              <a:srgbClr val="007B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039112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301 707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395728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messages analysés (NLP)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993392"/>
            <a:ext cx="2788920" cy="694944"/>
          </a:xfrm>
          <a:prstGeom prst="roundRect">
            <a:avLst>
              <a:gd name="adj" fmla="val 9211"/>
            </a:avLst>
          </a:prstGeom>
          <a:solidFill>
            <a:srgbClr val="EAF6F6"/>
          </a:solidFill>
          <a:ln w="12700">
            <a:solidFill>
              <a:srgbClr val="007B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039112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289 300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55080" y="2395728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posts indexés (Data Warehouse)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798064"/>
            <a:ext cx="2788920" cy="694944"/>
          </a:xfrm>
          <a:prstGeom prst="roundRect">
            <a:avLst>
              <a:gd name="adj" fmla="val 9211"/>
            </a:avLst>
          </a:prstGeom>
          <a:solidFill>
            <a:srgbClr val="EAF6F6"/>
          </a:solidFill>
          <a:ln w="12700">
            <a:solidFill>
              <a:srgbClr val="007B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43784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 dashboards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" y="3200400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livrés au directeur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2798064"/>
            <a:ext cx="2788920" cy="694944"/>
          </a:xfrm>
          <a:prstGeom prst="roundRect">
            <a:avLst>
              <a:gd name="adj" fmla="val 9211"/>
            </a:avLst>
          </a:prstGeom>
          <a:solidFill>
            <a:srgbClr val="EAF6F6"/>
          </a:solidFill>
          <a:ln w="12700">
            <a:solidFill>
              <a:srgbClr val="007B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843784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 étapes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29000" y="3200400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de bout en bout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2798064"/>
            <a:ext cx="2788920" cy="694944"/>
          </a:xfrm>
          <a:prstGeom prst="roundRect">
            <a:avLst>
              <a:gd name="adj" fmla="val 9211"/>
            </a:avLst>
          </a:prstGeom>
          <a:solidFill>
            <a:srgbClr val="EAF6F6"/>
          </a:solidFill>
          <a:ln w="12700">
            <a:solidFill>
              <a:srgbClr val="007B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843784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C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 bugs SQL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55080" y="3200400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identifiés et résolus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374904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Merci pour votre attention.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200400" y="4187952"/>
            <a:ext cx="2743200" cy="27432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Mouad Souhal  ·  Data Science  ·  Ziwig Morocco  ·  2025–2026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0C8C8">
              <a:alpha val="85000"/>
            </a:srgbClr>
          </a:solidFill>
          <a:ln w="12700">
            <a:solidFill>
              <a:srgbClr val="00C8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D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« Transformer les conversations patients en insights actionnables pour accélérer le diagnostic de l'endométriose »</a:t>
            </a:r>
            <a:endParaRPr lang="en-US" sz="1050" dirty="0"/>
          </a:p>
        </p:txBody>
      </p:sp>
      <p:pic>
        <p:nvPicPr>
          <p:cNvPr id="51" name="Picture 50"/>
          <p:cNvPicPr/>
          <p:nvPr/>
        </p:nvPicPr>
        <p:blipFill>
          <a:blip r:embed="rId3"/>
          <a:stretch>
            <a:fillRect/>
          </a:stretch>
        </p:blipFill>
        <p:spPr>
          <a:xfrm>
            <a:off x="274320" y="177165"/>
            <a:ext cx="1606884" cy="508635"/>
          </a:xfrm>
          <a:prstGeom prst="rect">
            <a:avLst/>
          </a:prstGeom>
        </p:spPr>
      </p:pic>
      <p:pic>
        <p:nvPicPr>
          <p:cNvPr id="33" name="Picture 32" descr="ChatGPT_Image_Jun_11__2026__06_20_51_AM-removebg-pre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15" y="177165"/>
            <a:ext cx="2333625" cy="998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2141</Words>
  <Application>Microsoft Office PowerPoint</Application>
  <PresentationFormat>Affichage à l'écran (16:9)</PresentationFormat>
  <Paragraphs>485</Paragraphs>
  <Slides>18</Slides>
  <Notes>18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Veille Data &amp; Insights sur l'Endométriose — Ziwig Morocco</dc:title>
  <dc:subject>Rapport de Stage PFE — Data Science</dc:subject>
  <dc:creator>Mouad Souhal</dc:creator>
  <cp:lastModifiedBy>user</cp:lastModifiedBy>
  <cp:revision>5</cp:revision>
  <dcterms:created xsi:type="dcterms:W3CDTF">2026-06-11T03:26:00Z</dcterms:created>
  <dcterms:modified xsi:type="dcterms:W3CDTF">2026-06-11T15:02:23Z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903C910FCB5E4210A8AD0D26B15585C6_12</vt:lpwstr>
  </property>
</Properties>
</file>